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L² error</c:v>
                </c:pt>
              </c:strCache>
            </c:strRef>
          </c:tx>
          <c:spPr>
            <a:ln w="27940">
              <a:solidFill>
                <a:srgbClr val="1B5D93"/>
              </a:solidFill>
            </a:ln>
          </c:spPr>
          <c:marker>
            <c:size val="7"/>
            <c:spPr>
              <a:solidFill>
                <a:srgbClr val="1B5D93"/>
              </a:solidFill>
              <a:ln>
                <a:solidFill>
                  <a:srgbClr val="1B5D93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1/8</c:v>
                </c:pt>
                <c:pt idx="1">
                  <c:v>1/16</c:v>
                </c:pt>
                <c:pt idx="2">
                  <c:v>1/32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0.0057462</c:v>
                </c:pt>
                <c:pt idx="1">
                  <c:v>0.0014367</c:v>
                </c:pt>
                <c:pt idx="2">
                  <c:v>0.00035919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H¹ error</c:v>
                </c:pt>
              </c:strCache>
            </c:strRef>
          </c:tx>
          <c:spPr>
            <a:ln w="27940">
              <a:solidFill>
                <a:srgbClr val="E57C23"/>
              </a:solidFill>
            </a:ln>
          </c:spPr>
          <c:marker>
            <c:size val="7"/>
            <c:spPr>
              <a:solidFill>
                <a:srgbClr val="E57C23"/>
              </a:solidFill>
              <a:ln>
                <a:solidFill>
                  <a:srgbClr val="E57C23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1/8</c:v>
                </c:pt>
                <c:pt idx="1">
                  <c:v>1/16</c:v>
                </c:pt>
                <c:pt idx="2">
                  <c:v>1/32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0.21818</c:v>
                </c:pt>
                <c:pt idx="1">
                  <c:v>0.10905</c:v>
                </c:pt>
                <c:pt idx="2">
                  <c:v>0.054524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97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max val="1.0"/>
          <c:min val="0.0001"/>
        </c:scaling>
        <c:delete val="0"/>
        <c:axPos val="l"/>
        <c:majorGridlines>
          <c:spPr>
            <a:ln>
              <a:solidFill>
                <a:srgbClr val="D5DEE6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/>
                </a:pPr>
                <a:r>
                  <a:t>error norm</a:t>
                </a:r>
              </a:p>
            </c:rich>
          </c:tx>
          <c:layout/>
          <c:overlay val="0"/>
        </c:title>
        <c:numFmt formatCode="0.0E+0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978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None</c:v>
                </c:pt>
              </c:strCache>
            </c:strRef>
          </c:tx>
          <c:spPr>
            <a:ln w="27940">
              <a:solidFill>
                <a:srgbClr val="1B5D93"/>
              </a:solidFill>
            </a:ln>
          </c:spPr>
          <c:marker>
            <c:size val="7"/>
            <c:spPr>
              <a:solidFill>
                <a:srgbClr val="1B5D93"/>
              </a:solidFill>
              <a:ln>
                <a:solidFill>
                  <a:srgbClr val="1B5D93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260</c:v>
                </c:pt>
                <c:pt idx="1">
                  <c:v>819</c:v>
                </c:pt>
                <c:pt idx="2">
                  <c:v>2518</c:v>
                </c:pt>
                <c:pt idx="3">
                  <c:v>7040</c:v>
                </c:pt>
                <c:pt idx="4">
                  <c:v>16067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Jacobi</c:v>
                </c:pt>
              </c:strCache>
            </c:strRef>
          </c:tx>
          <c:spPr>
            <a:ln w="27940">
              <a:solidFill>
                <a:srgbClr val="BE3E3E"/>
              </a:solidFill>
            </a:ln>
          </c:spPr>
          <c:marker>
            <c:size val="7"/>
            <c:spPr>
              <a:solidFill>
                <a:srgbClr val="BE3E3E"/>
              </a:solidFill>
              <a:ln>
                <a:solidFill>
                  <a:srgbClr val="BE3E3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129</c:v>
                </c:pt>
                <c:pt idx="1">
                  <c:v>241</c:v>
                </c:pt>
                <c:pt idx="2">
                  <c:v>341</c:v>
                </c:pt>
                <c:pt idx="3">
                  <c:v>449</c:v>
                </c:pt>
                <c:pt idx="4">
                  <c:v>611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SSOR</c:v>
                </c:pt>
              </c:strCache>
            </c:strRef>
          </c:tx>
          <c:spPr>
            <a:ln w="27940">
              <a:solidFill>
                <a:srgbClr val="27855C"/>
              </a:solidFill>
            </a:ln>
          </c:spPr>
          <c:marker>
            <c:size val="7"/>
            <c:spPr>
              <a:solidFill>
                <a:srgbClr val="27855C"/>
              </a:solidFill>
              <a:ln>
                <a:solidFill>
                  <a:srgbClr val="27855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56</c:v>
                </c:pt>
                <c:pt idx="1">
                  <c:v>96</c:v>
                </c:pt>
                <c:pt idx="2">
                  <c:v>127</c:v>
                </c:pt>
                <c:pt idx="3">
                  <c:v>158</c:v>
                </c:pt>
                <c:pt idx="4">
                  <c:v>211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ILU</c:v>
                </c:pt>
              </c:strCache>
            </c:strRef>
          </c:tx>
          <c:spPr>
            <a:ln w="27940">
              <a:solidFill>
                <a:srgbClr val="734F96"/>
              </a:solidFill>
            </a:ln>
          </c:spPr>
          <c:marker>
            <c:size val="7"/>
            <c:spPr>
              <a:solidFill>
                <a:srgbClr val="734F96"/>
              </a:solidFill>
              <a:ln>
                <a:solidFill>
                  <a:srgbClr val="734F9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48</c:v>
                </c:pt>
                <c:pt idx="1">
                  <c:v>84</c:v>
                </c:pt>
                <c:pt idx="2">
                  <c:v>112</c:v>
                </c:pt>
                <c:pt idx="3">
                  <c:v>141</c:v>
                </c:pt>
                <c:pt idx="4">
                  <c:v>172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AMG</c:v>
                </c:pt>
              </c:strCache>
            </c:strRef>
          </c:tx>
          <c:spPr>
            <a:ln w="27940">
              <a:solidFill>
                <a:srgbClr val="E57C23"/>
              </a:solidFill>
            </a:ln>
          </c:spPr>
          <c:marker>
            <c:size val="7"/>
            <c:spPr>
              <a:solidFill>
                <a:srgbClr val="E57C23"/>
              </a:solidFill>
              <a:ln>
                <a:solidFill>
                  <a:srgbClr val="E57C23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17</c:v>
                </c:pt>
                <c:pt idx="1">
                  <c:v>18</c:v>
                </c:pt>
                <c:pt idx="2">
                  <c:v>20</c:v>
                </c:pt>
                <c:pt idx="3">
                  <c:v>23</c:v>
                </c:pt>
                <c:pt idx="4">
                  <c:v>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97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max val="100000.0"/>
          <c:min val="10.0"/>
        </c:scaling>
        <c:delete val="0"/>
        <c:axPos val="l"/>
        <c:majorGridlines>
          <c:spPr>
            <a:ln>
              <a:solidFill>
                <a:srgbClr val="D5DEE6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/>
                </a:pPr>
                <a:r>
                  <a:t>iterations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978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None</c:v>
                </c:pt>
              </c:strCache>
            </c:strRef>
          </c:tx>
          <c:spPr>
            <a:ln w="27940">
              <a:solidFill>
                <a:srgbClr val="1B5D93"/>
              </a:solidFill>
            </a:ln>
          </c:spPr>
          <c:marker>
            <c:size val="7"/>
            <c:spPr>
              <a:solidFill>
                <a:srgbClr val="1B5D93"/>
              </a:solidFill>
              <a:ln>
                <a:solidFill>
                  <a:srgbClr val="1B5D93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1139.43</c:v>
                </c:pt>
                <c:pt idx="1">
                  <c:v>10865.3</c:v>
                </c:pt>
                <c:pt idx="2">
                  <c:v>106418.0</c:v>
                </c:pt>
                <c:pt idx="3">
                  <c:v>1054210.0</c:v>
                </c:pt>
                <c:pt idx="4">
                  <c:v>10508800.0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Jacobi</c:v>
                </c:pt>
              </c:strCache>
            </c:strRef>
          </c:tx>
          <c:spPr>
            <a:ln w="27940">
              <a:solidFill>
                <a:srgbClr val="BE3E3E"/>
              </a:solidFill>
            </a:ln>
          </c:spPr>
          <c:marker>
            <c:size val="7"/>
            <c:spPr>
              <a:solidFill>
                <a:srgbClr val="BE3E3E"/>
              </a:solidFill>
              <a:ln>
                <a:solidFill>
                  <a:srgbClr val="BE3E3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197.972</c:v>
                </c:pt>
                <c:pt idx="1">
                  <c:v>1203.6</c:v>
                </c:pt>
                <c:pt idx="2">
                  <c:v>12476.9</c:v>
                </c:pt>
                <c:pt idx="3">
                  <c:v>144554.0</c:v>
                </c:pt>
                <c:pt idx="4">
                  <c:v>1504220.0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SSOR</c:v>
                </c:pt>
              </c:strCache>
            </c:strRef>
          </c:tx>
          <c:spPr>
            <a:ln w="27940">
              <a:solidFill>
                <a:srgbClr val="27855C"/>
              </a:solidFill>
            </a:ln>
          </c:spPr>
          <c:marker>
            <c:size val="7"/>
            <c:spPr>
              <a:solidFill>
                <a:srgbClr val="27855C"/>
              </a:solidFill>
              <a:ln>
                <a:solidFill>
                  <a:srgbClr val="27855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37.1998</c:v>
                </c:pt>
                <c:pt idx="1">
                  <c:v>195.527</c:v>
                </c:pt>
                <c:pt idx="2">
                  <c:v>1763.68</c:v>
                </c:pt>
                <c:pt idx="3">
                  <c:v>17156.7</c:v>
                </c:pt>
                <c:pt idx="4">
                  <c:v>170111.0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ILU</c:v>
                </c:pt>
              </c:strCache>
            </c:strRef>
          </c:tx>
          <c:spPr>
            <a:ln w="27940">
              <a:solidFill>
                <a:srgbClr val="734F96"/>
              </a:solidFill>
            </a:ln>
          </c:spPr>
          <c:marker>
            <c:size val="7"/>
            <c:spPr>
              <a:solidFill>
                <a:srgbClr val="734F96"/>
              </a:solidFill>
              <a:ln>
                <a:solidFill>
                  <a:srgbClr val="734F9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27.4434</c:v>
                </c:pt>
                <c:pt idx="1">
                  <c:v>131.444</c:v>
                </c:pt>
                <c:pt idx="2">
                  <c:v>1171.3</c:v>
                </c:pt>
                <c:pt idx="3">
                  <c:v>11431.0</c:v>
                </c:pt>
                <c:pt idx="4">
                  <c:v>113342.0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AMG</c:v>
                </c:pt>
              </c:strCache>
            </c:strRef>
          </c:tx>
          <c:spPr>
            <a:ln w="27940">
              <a:solidFill>
                <a:srgbClr val="E57C23"/>
              </a:solidFill>
            </a:ln>
          </c:spPr>
          <c:marker>
            <c:size val="7"/>
            <c:spPr>
              <a:solidFill>
                <a:srgbClr val="E57C23"/>
              </a:solidFill>
              <a:ln>
                <a:solidFill>
                  <a:srgbClr val="E57C23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2.5077</c:v>
                </c:pt>
                <c:pt idx="1">
                  <c:v>2.64373</c:v>
                </c:pt>
                <c:pt idx="2">
                  <c:v>2.9204</c:v>
                </c:pt>
                <c:pt idx="3">
                  <c:v>3.2942</c:v>
                </c:pt>
                <c:pt idx="4">
                  <c:v>18.4663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97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max val="100000000.0"/>
          <c:min val="1.0"/>
        </c:scaling>
        <c:delete val="0"/>
        <c:axPos val="l"/>
        <c:majorGridlines>
          <c:spPr>
            <a:ln>
              <a:solidFill>
                <a:srgbClr val="D5DEE6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/>
                </a:pPr>
                <a:r>
                  <a:t>condition estimate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978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D243D"/>
            </a:solidFill>
            <a:ln w="27940">
              <a:solidFill>
                <a:srgbClr val="0D243D"/>
              </a:solidFill>
            </a:ln>
          </c:spPr>
          <c:cat>
            <c:strRef>
              <c:f>Sheet1!$A$2:$A$6</c:f>
              <c:strCache>
                <c:ptCount val="5"/>
                <c:pt idx="0">
                  <c:v>None</c:v>
                </c:pt>
                <c:pt idx="1">
                  <c:v>Jacobi</c:v>
                </c:pt>
                <c:pt idx="2">
                  <c:v>SSOR</c:v>
                </c:pt>
                <c:pt idx="3">
                  <c:v>ILU</c:v>
                </c:pt>
                <c:pt idx="4">
                  <c:v>AMG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16.9413</c:v>
                </c:pt>
                <c:pt idx="1">
                  <c:v>0.361529</c:v>
                </c:pt>
                <c:pt idx="2">
                  <c:v>0.49426</c:v>
                </c:pt>
                <c:pt idx="3">
                  <c:v>0.399305</c:v>
                </c:pt>
                <c:pt idx="4">
                  <c:v>0.2624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9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ax val="100.0"/>
          <c:min val="0.1"/>
        </c:scaling>
        <c:delete val="0"/>
        <c:axPos val="l"/>
        <c:majorGridlines>
          <c:spPr>
            <a:ln>
              <a:solidFill>
                <a:srgbClr val="D5DEE6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/>
                </a:pPr>
                <a:r>
                  <a:t>seconds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97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Setup</c:v>
                </c:pt>
              </c:strCache>
            </c:strRef>
          </c:tx>
          <c:spPr>
            <a:solidFill>
              <a:srgbClr val="E57C23"/>
            </a:solidFill>
            <a:ln w="27940">
              <a:solidFill>
                <a:srgbClr val="E57C23"/>
              </a:solidFill>
            </a:ln>
          </c:spPr>
          <c:cat>
            <c:strRef>
              <c:f>Sheet1!$A$2:$A$5</c:f>
              <c:strCache>
                <c:ptCount val="4"/>
                <c:pt idx="0">
                  <c:v>Jacobi</c:v>
                </c:pt>
                <c:pt idx="1">
                  <c:v>SSOR</c:v>
                </c:pt>
                <c:pt idx="2">
                  <c:v>ILU</c:v>
                </c:pt>
                <c:pt idx="3">
                  <c:v>AMG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0.00228942</c:v>
                </c:pt>
                <c:pt idx="1">
                  <c:v>0.00173475</c:v>
                </c:pt>
                <c:pt idx="2">
                  <c:v>0.0439936</c:v>
                </c:pt>
                <c:pt idx="3">
                  <c:v>0.0864544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Solve</c:v>
                </c:pt>
              </c:strCache>
            </c:strRef>
          </c:tx>
          <c:spPr>
            <a:solidFill>
              <a:srgbClr val="1B5D93"/>
            </a:solidFill>
            <a:ln w="27940">
              <a:solidFill>
                <a:srgbClr val="1B5D93"/>
              </a:solidFill>
            </a:ln>
          </c:spPr>
          <c:cat>
            <c:strRef>
              <c:f>Sheet1!$A$2:$A$5</c:f>
              <c:strCache>
                <c:ptCount val="4"/>
                <c:pt idx="0">
                  <c:v>Jacobi</c:v>
                </c:pt>
                <c:pt idx="1">
                  <c:v>SSOR</c:v>
                </c:pt>
                <c:pt idx="2">
                  <c:v>ILU</c:v>
                </c:pt>
                <c:pt idx="3">
                  <c:v>AMG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0.35924</c:v>
                </c:pt>
                <c:pt idx="1">
                  <c:v>0.492525</c:v>
                </c:pt>
                <c:pt idx="2">
                  <c:v>0.355311</c:v>
                </c:pt>
                <c:pt idx="3">
                  <c:v>0.175946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9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EE6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/>
                </a:pPr>
                <a:r>
                  <a:t>seconds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97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None</c:v>
                </c:pt>
              </c:strCache>
            </c:strRef>
          </c:tx>
          <c:spPr>
            <a:ln w="27940">
              <a:solidFill>
                <a:srgbClr val="1B5D93"/>
              </a:solidFill>
            </a:ln>
          </c:spPr>
          <c:marker>
            <c:size val="7"/>
            <c:spPr>
              <a:solidFill>
                <a:srgbClr val="1B5D93"/>
              </a:solidFill>
              <a:ln>
                <a:solidFill>
                  <a:srgbClr val="1B5D93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1031</c:v>
                </c:pt>
                <c:pt idx="1">
                  <c:v>6187</c:v>
                </c:pt>
                <c:pt idx="2">
                  <c:v>16067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Jacobi</c:v>
                </c:pt>
              </c:strCache>
            </c:strRef>
          </c:tx>
          <c:spPr>
            <a:ln w="27940">
              <a:solidFill>
                <a:srgbClr val="BE3E3E"/>
              </a:solidFill>
            </a:ln>
          </c:spPr>
          <c:marker>
            <c:size val="7"/>
            <c:spPr>
              <a:solidFill>
                <a:srgbClr val="BE3E3E"/>
              </a:solidFill>
              <a:ln>
                <a:solidFill>
                  <a:srgbClr val="BE3E3E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296</c:v>
                </c:pt>
                <c:pt idx="1">
                  <c:v>492</c:v>
                </c:pt>
                <c:pt idx="2">
                  <c:v>611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SSOR</c:v>
                </c:pt>
              </c:strCache>
            </c:strRef>
          </c:tx>
          <c:spPr>
            <a:ln w="27940">
              <a:solidFill>
                <a:srgbClr val="27855C"/>
              </a:solidFill>
            </a:ln>
          </c:spPr>
          <c:marker>
            <c:size val="7"/>
            <c:spPr>
              <a:solidFill>
                <a:srgbClr val="27855C"/>
              </a:solidFill>
              <a:ln>
                <a:solidFill>
                  <a:srgbClr val="27855C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124</c:v>
                </c:pt>
                <c:pt idx="1">
                  <c:v>183</c:v>
                </c:pt>
                <c:pt idx="2">
                  <c:v>211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ILU</c:v>
                </c:pt>
              </c:strCache>
            </c:strRef>
          </c:tx>
          <c:spPr>
            <a:ln w="27940">
              <a:solidFill>
                <a:srgbClr val="734F96"/>
              </a:solidFill>
            </a:ln>
          </c:spPr>
          <c:marker>
            <c:size val="7"/>
            <c:spPr>
              <a:solidFill>
                <a:srgbClr val="734F96"/>
              </a:solidFill>
              <a:ln>
                <a:solidFill>
                  <a:srgbClr val="734F96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103</c:v>
                </c:pt>
                <c:pt idx="1">
                  <c:v>99</c:v>
                </c:pt>
                <c:pt idx="2">
                  <c:v>172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AMG</c:v>
                </c:pt>
              </c:strCache>
            </c:strRef>
          </c:tx>
          <c:spPr>
            <a:ln w="27940">
              <a:solidFill>
                <a:srgbClr val="E57C23"/>
              </a:solidFill>
            </a:ln>
          </c:spPr>
          <c:marker>
            <c:size val="7"/>
            <c:spPr>
              <a:solidFill>
                <a:srgbClr val="E57C23"/>
              </a:solidFill>
              <a:ln>
                <a:solidFill>
                  <a:srgbClr val="E57C23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</c:v>
                </c:pt>
                <c:pt idx="1">
                  <c:v>64</c:v>
                </c:pt>
                <c:pt idx="2">
                  <c:v>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97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max val="100000.0"/>
          <c:min val="1.0"/>
        </c:scaling>
        <c:delete val="0"/>
        <c:axPos val="l"/>
        <c:majorGridlines>
          <c:spPr>
            <a:ln>
              <a:solidFill>
                <a:srgbClr val="D5DEE6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/>
                </a:pPr>
                <a:r>
                  <a:t>iterations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978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27940">
              <a:solidFill>
                <a:srgbClr val="5B6978"/>
              </a:solidFill>
            </a:ln>
          </c:spPr>
          <c:marker>
            <c:size val="7"/>
            <c:spPr>
              <a:solidFill>
                <a:srgbClr val="5B6978"/>
              </a:solidFill>
              <a:ln>
                <a:solidFill>
                  <a:srgbClr val="5B6978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None</c:v>
                </c:pt>
              </c:strCache>
            </c:strRef>
          </c:tx>
          <c:spPr>
            <a:ln w="27940">
              <a:solidFill>
                <a:srgbClr val="1B5D93"/>
              </a:solidFill>
            </a:ln>
          </c:spPr>
          <c:marker>
            <c:size val="7"/>
            <c:spPr>
              <a:solidFill>
                <a:srgbClr val="1B5D93"/>
              </a:solidFill>
              <a:ln>
                <a:solidFill>
                  <a:srgbClr val="1B5D93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</c:v>
                </c:pt>
                <c:pt idx="1">
                  <c:v>0.9383682286473911</c:v>
                </c:pt>
                <c:pt idx="2">
                  <c:v>1.930060608822457</c:v>
                </c:pt>
                <c:pt idx="3">
                  <c:v>2.4474114181617503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Jacobi</c:v>
                </c:pt>
              </c:strCache>
            </c:strRef>
          </c:tx>
          <c:spPr>
            <a:ln w="27940">
              <a:solidFill>
                <a:srgbClr val="BE3E3E"/>
              </a:solidFill>
            </a:ln>
          </c:spPr>
          <c:marker>
            <c:size val="7"/>
            <c:spPr>
              <a:solidFill>
                <a:srgbClr val="BE3E3E"/>
              </a:solidFill>
              <a:ln>
                <a:solidFill>
                  <a:srgbClr val="BE3E3E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0.20380346240790118</c:v>
                </c:pt>
                <c:pt idx="2">
                  <c:v>1.9856157386557112</c:v>
                </c:pt>
                <c:pt idx="3">
                  <c:v>2.0616154012842007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SSOR</c:v>
                </c:pt>
              </c:strCache>
            </c:strRef>
          </c:tx>
          <c:spPr>
            <a:ln w="27940">
              <a:solidFill>
                <a:srgbClr val="27855C"/>
              </a:solidFill>
            </a:ln>
          </c:spPr>
          <c:marker>
            <c:size val="7"/>
            <c:spPr>
              <a:solidFill>
                <a:srgbClr val="27855C"/>
              </a:solidFill>
              <a:ln>
                <a:solidFill>
                  <a:srgbClr val="27855C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1.0</c:v>
                </c:pt>
                <c:pt idx="1">
                  <c:v>0.26708960627708667</c:v>
                </c:pt>
                <c:pt idx="2">
                  <c:v>0.7572997314072696</c:v>
                </c:pt>
                <c:pt idx="3">
                  <c:v>0.7240854440161794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ILU</c:v>
                </c:pt>
              </c:strCache>
            </c:strRef>
          </c:tx>
          <c:spPr>
            <a:ln w="27940">
              <a:solidFill>
                <a:srgbClr val="734F96"/>
              </a:solidFill>
            </a:ln>
          </c:spPr>
          <c:marker>
            <c:size val="7"/>
            <c:spPr>
              <a:solidFill>
                <a:srgbClr val="734F96"/>
              </a:solidFill>
              <a:ln>
                <a:solidFill>
                  <a:srgbClr val="734F96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1.0</c:v>
                </c:pt>
                <c:pt idx="1">
                  <c:v>1.1317463196739432</c:v>
                </c:pt>
                <c:pt idx="2">
                  <c:v>1.3420934109517215</c:v>
                </c:pt>
                <c:pt idx="3">
                  <c:v>2.276072185868351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AMG</c:v>
                </c:pt>
              </c:strCache>
            </c:strRef>
          </c:tx>
          <c:spPr>
            <a:ln w="27940">
              <a:solidFill>
                <a:srgbClr val="E57C23"/>
              </a:solidFill>
            </a:ln>
          </c:spPr>
          <c:marker>
            <c:size val="7"/>
            <c:spPr>
              <a:solidFill>
                <a:srgbClr val="E57C23"/>
              </a:solidFill>
              <a:ln>
                <a:solidFill>
                  <a:srgbClr val="E57C23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1.0</c:v>
                </c:pt>
                <c:pt idx="1">
                  <c:v>0.5341791169351473</c:v>
                </c:pt>
                <c:pt idx="2">
                  <c:v>0.9291949220064095</c:v>
                </c:pt>
                <c:pt idx="3">
                  <c:v>1.5653802788333624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97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5DEE6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/>
                </a:pPr>
                <a:r>
                  <a:t>speedup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978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36992" y="0"/>
            <a:ext cx="4251960" cy="6858000"/>
          </a:xfrm>
          <a:prstGeom prst="rect">
            <a:avLst/>
          </a:prstGeom>
          <a:solidFill>
            <a:srgbClr val="1B5D93"/>
          </a:solidFill>
          <a:ln w="10160">
            <a:solidFill>
              <a:srgbClr val="1B5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75320" y="685800"/>
            <a:ext cx="3246120" cy="5440680"/>
          </a:xfrm>
          <a:prstGeom prst="roundRect">
            <a:avLst/>
          </a:prstGeom>
          <a:solidFill>
            <a:srgbClr val="144A74"/>
          </a:solidFill>
          <a:ln w="10160">
            <a:solidFill>
              <a:srgbClr val="14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1143000"/>
            <a:ext cx="3127248" cy="2862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713232"/>
            <a:ext cx="6217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D9CAE"/>
                </a:solidFill>
                <a:latin typeface="Aptos"/>
              </a:rPr>
              <a:t>PRECONDITIONING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812280" cy="1600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Heterogeneous
Diffusion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044952"/>
            <a:ext cx="649224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C8DAE6"/>
                </a:solidFill>
                <a:latin typeface="Aptos"/>
              </a:rPr>
              <a:t>Finite elements · Krylov solvers · Parallel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754880"/>
            <a:ext cx="68580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Nada Elsayed  ·  10998973      Wu Cao  ·  11036000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138928"/>
            <a:ext cx="68580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Fude Zhou  ·  10679500      Elena Nuttini  ·  10683877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96128"/>
            <a:ext cx="67665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BBCDDA"/>
                </a:solidFill>
                <a:latin typeface="Aptos"/>
              </a:rPr>
              <a:t>Numerical Methods for Partial Differential Equations · A.Y. 2025/2026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4370832"/>
            <a:ext cx="2697480" cy="7132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12 inclusions
contrast up to 10⁵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43D"/>
          </a:solidFill>
          <a:ln w="10160">
            <a:solidFill>
              <a:srgbClr val="0D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698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D243D"/>
                </a:solidFill>
                <a:latin typeface="Aptos"/>
              </a:rPr>
              <a:t>Problem and coefficient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365760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5B6978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83112" cy="16459"/>
          </a:xfrm>
          <a:prstGeom prst="rect">
            <a:avLst/>
          </a:prstGeom>
          <a:solidFill>
            <a:srgbClr val="D5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5166360" cy="749808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26464"/>
            <a:ext cx="4946904" cy="603503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100" b="0">
                <a:solidFill>
                  <a:srgbClr val="0D243D"/>
                </a:solidFill>
                <a:latin typeface="Cambria Math"/>
              </a:rPr>
              <a:t>−∇ · (μ ∇u) = f   in Ω = (0,1)³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67712"/>
            <a:ext cx="51663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946904" cy="4754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900" b="0">
                <a:solidFill>
                  <a:srgbClr val="0D243D"/>
                </a:solidFill>
                <a:latin typeface="Cambria Math"/>
              </a:rPr>
              <a:t>u = 0   on ∂Ω,      f =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72384"/>
            <a:ext cx="5166360" cy="804672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145536"/>
            <a:ext cx="4946904" cy="6583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800" b="0">
                <a:solidFill>
                  <a:srgbClr val="0D243D"/>
                </a:solidFill>
                <a:latin typeface="Cambria Math"/>
              </a:rPr>
              <a:t>μₚ(x) = { 10ᵖ  if x ∈ B;   1  otherwise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187952"/>
            <a:ext cx="4983480" cy="11430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A36"/>
                </a:solidFill>
                <a:latin typeface="Aptos"/>
              </a:defRPr>
            </a:pPr>
            <a:r>
              <a:t>•  p = 1, …, 5</a:t>
            </a:r>
          </a:p>
          <a:p>
            <a:pPr>
              <a:spcAft>
                <a:spcPts val="800"/>
              </a:spcAft>
              <a:defRPr sz="1500">
                <a:solidFill>
                  <a:srgbClr val="202A36"/>
                </a:solidFill>
                <a:latin typeface="Aptos"/>
              </a:defRPr>
            </a:pPr>
            <a:r>
              <a:t>•  μmax / μmin = 10ᵖ</a:t>
            </a:r>
          </a:p>
          <a:p>
            <a:pPr>
              <a:spcAft>
                <a:spcPts val="800"/>
              </a:spcAft>
              <a:defRPr sz="1500">
                <a:solidFill>
                  <a:srgbClr val="202A36"/>
                </a:solidFill>
                <a:latin typeface="Aptos"/>
              </a:defRPr>
            </a:pPr>
            <a:r>
              <a:t>•  Fixed geometry isolates contrast</a:t>
            </a:r>
          </a:p>
        </p:txBody>
      </p:sp>
      <p:pic>
        <p:nvPicPr>
          <p:cNvPr id="14" name="Picture 13" descr="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4800600" cy="42245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0" y="5559552"/>
            <a:ext cx="39319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5B6978"/>
                </a:solidFill>
                <a:latin typeface="Aptos"/>
              </a:rPr>
              <a:t>Coefficient visualization, p =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6053328"/>
            <a:ext cx="11045952" cy="365760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144768"/>
            <a:ext cx="1024128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KEY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6117336"/>
            <a:ext cx="9582912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D243D"/>
                </a:solidFill>
                <a:latin typeface="Aptos"/>
              </a:rPr>
              <a:t>Increasing p preserves the geometry but separates the energy scales by up to five orders of magnitude.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411480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NMPDE · Heterogeneous diffusion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43D"/>
          </a:solidFill>
          <a:ln w="10160">
            <a:solidFill>
              <a:srgbClr val="0D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COEFFICIENT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698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D243D"/>
                </a:solidFill>
                <a:latin typeface="Aptos"/>
              </a:rPr>
              <a:t>How the 12 inclusions are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365760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5B6978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83112" cy="16459"/>
          </a:xfrm>
          <a:prstGeom prst="rect">
            <a:avLst/>
          </a:prstGeom>
          <a:solidFill>
            <a:srgbClr val="D5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225296"/>
            <a:ext cx="10991088" cy="621792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298448"/>
            <a:ext cx="10771632" cy="4754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800" b="0">
                <a:solidFill>
                  <a:srgbClr val="0D243D"/>
                </a:solidFill>
                <a:latin typeface="Cambria Math"/>
              </a:rPr>
              <a:t>B = ⋃ᵢ₌₁¹² Bᵢ,      Bᵢ = { x ∈ Ω : ‖x − cᵢ‖₂ ≤ rᵢ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48256"/>
            <a:ext cx="5504688" cy="3749039"/>
          </a:xfrm>
          <a:prstGeom prst="roundRect">
            <a:avLst/>
          </a:prstGeom>
          <a:solidFill>
            <a:srgbClr val="182330"/>
          </a:solidFill>
          <a:ln w="10160">
            <a:solidFill>
              <a:srgbClr val="182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49424"/>
            <a:ext cx="502920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2D9CAE"/>
                </a:solidFill>
                <a:latin typeface="Aptos Mono"/>
              </a:rPr>
              <a:t>HeterogeneousDiffusion::make_balls()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96896"/>
            <a:ext cx="5029200" cy="2944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1EAF1"/>
                </a:solidFill>
                <a:latin typeface="Aptos Mono"/>
              </a:rPr>
              <a:t>return {{{0.18, 0.20, 0.23}, 0.090},
        {{0.34, 0.28, 0.72}, 0.075},
        {{0.52, 0.18, 0.46}, 0.080},
        {{0.76, 0.24, 0.32}, 0.070},
        {{0.24, 0.52, 0.55}, 0.085},
        {{0.48, 0.48, 0.22}, 0.070},
        {{0.68, 0.56, 0.78}, 0.095},
        {{0.86, 0.62, 0.50}, 0.060},
        {{0.30, 0.78, 0.30}, 0.075},
        {{0.55, 0.82, 0.60}, 0.090},
        {{0.78, 0.84, 0.20}, 0.070},
        {{0.14, 0.86, 0.82}, 0.065}};</a:t>
            </a:r>
          </a:p>
        </p:txBody>
      </p:sp>
      <p:pic>
        <p:nvPicPr>
          <p:cNvPr id="12" name="Picture 11" descr="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48256"/>
            <a:ext cx="4828032" cy="3529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2280" y="5596128"/>
            <a:ext cx="4005072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000" b="0">
                <a:solidFill>
                  <a:srgbClr val="5B6978"/>
                </a:solidFill>
                <a:latin typeface="Aptos"/>
              </a:rPr>
              <a:t>Rendered coefficient field at p =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6053328"/>
            <a:ext cx="11045952" cy="365760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6144768"/>
            <a:ext cx="1024128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KEY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6117336"/>
            <a:ext cx="9582912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D243D"/>
                </a:solidFill>
                <a:latin typeface="Aptos"/>
              </a:rPr>
              <a:t>The centers and radii remain fixed; only the coefficient value inside the spheres changes with 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411480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NMPDE · Heterogeneous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43D"/>
          </a:solidFill>
          <a:ln w="10160">
            <a:solidFill>
              <a:srgbClr val="0D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NUMERICAL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698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D243D"/>
                </a:solidFill>
                <a:latin typeface="Aptos"/>
              </a:rPr>
              <a:t>From the weak form to measured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365760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5B6978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83112" cy="16459"/>
          </a:xfrm>
          <a:prstGeom prst="rect">
            <a:avLst/>
          </a:prstGeom>
          <a:solidFill>
            <a:srgbClr val="D5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197864"/>
            <a:ext cx="1033272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271016"/>
            <a:ext cx="10113264" cy="402335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700" b="0">
                <a:solidFill>
                  <a:srgbClr val="0D243D"/>
                </a:solidFill>
                <a:latin typeface="Cambria Math"/>
              </a:rPr>
              <a:t>Find uₕ ∈ Vₕ :   ∫Ω μ∇uₕ · ∇vₕ dx = ∫Ω f vₕ dx    ⟹    A U =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10512"/>
            <a:ext cx="1874519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56816"/>
            <a:ext cx="438912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D9CAE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14016"/>
            <a:ext cx="1572768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0D243D"/>
                </a:solidFill>
                <a:latin typeface="Aptos"/>
              </a:rPr>
              <a:t>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944368"/>
            <a:ext cx="1572768" cy="7132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Uniform hexahedra
r = 3, 4, 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14016" y="2880360"/>
            <a:ext cx="338328" cy="0"/>
          </a:xfrm>
          <a:prstGeom prst="line">
            <a:avLst/>
          </a:prstGeom>
          <a:ln w="25400">
            <a:solidFill>
              <a:srgbClr val="2D9C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98064" y="1810512"/>
            <a:ext cx="1874519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5224" y="1956816"/>
            <a:ext cx="438912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D9CA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2414016"/>
            <a:ext cx="1572768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0D243D"/>
                </a:solidFill>
                <a:latin typeface="Aptos"/>
              </a:rPr>
              <a:t>Discretize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944368"/>
            <a:ext cx="1572768" cy="7132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Q₁ finite elements
729–35,937 DoFs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81728" y="2880360"/>
            <a:ext cx="338328" cy="0"/>
          </a:xfrm>
          <a:prstGeom prst="line">
            <a:avLst/>
          </a:prstGeom>
          <a:ln w="25400">
            <a:solidFill>
              <a:srgbClr val="2D9C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5776" y="1810512"/>
            <a:ext cx="1874519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2936" y="1956816"/>
            <a:ext cx="438912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D9CAE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414016"/>
            <a:ext cx="1572768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0D243D"/>
                </a:solidFill>
                <a:latin typeface="Aptos"/>
              </a:rPr>
              <a:t>Assemble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2944368"/>
            <a:ext cx="1572768" cy="7132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Distributed matrix
and right-hand side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49440" y="2880360"/>
            <a:ext cx="338328" cy="0"/>
          </a:xfrm>
          <a:prstGeom prst="line">
            <a:avLst/>
          </a:prstGeom>
          <a:ln w="25400">
            <a:solidFill>
              <a:srgbClr val="2D9C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33488" y="1810512"/>
            <a:ext cx="1874519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1956816"/>
            <a:ext cx="438912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D9CAE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414016"/>
            <a:ext cx="1572768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0D243D"/>
                </a:solidFill>
                <a:latin typeface="Aptos"/>
              </a:rPr>
              <a:t>Solve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2944368"/>
            <a:ext cx="1572768" cy="7132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CG + one of five
preconditioners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17152" y="2880360"/>
            <a:ext cx="338328" cy="0"/>
          </a:xfrm>
          <a:prstGeom prst="line">
            <a:avLst/>
          </a:prstGeom>
          <a:ln w="25400">
            <a:solidFill>
              <a:srgbClr val="2D9C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01200" y="1810512"/>
            <a:ext cx="1874519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1956816"/>
            <a:ext cx="438912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D9CAE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414016"/>
            <a:ext cx="1572768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0D243D"/>
                </a:solidFill>
                <a:latin typeface="Aptos"/>
              </a:rPr>
              <a:t>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944368"/>
            <a:ext cx="1572768" cy="7132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Iterations, κ̂,
setup and solve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4407408"/>
            <a:ext cx="27432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4526280"/>
            <a:ext cx="246888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B5D93"/>
                </a:solidFill>
                <a:latin typeface="Aptos"/>
              </a:rPr>
              <a:t>Q₁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956048"/>
            <a:ext cx="24688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5B6978"/>
                </a:solidFill>
                <a:latin typeface="Aptos"/>
              </a:rPr>
              <a:t>CONTINUOUS TRILINEAR ELEMENTS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9160" y="4407408"/>
            <a:ext cx="27432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4526280"/>
            <a:ext cx="246888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734F96"/>
                </a:solidFill>
                <a:latin typeface="Aptos"/>
              </a:rPr>
              <a:t>CG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956048"/>
            <a:ext cx="24688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5B6978"/>
                </a:solidFill>
                <a:latin typeface="Aptos"/>
              </a:rPr>
              <a:t>‖rₖ‖₂ ≤ 10⁻¹⁰ ‖b‖₂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4407408"/>
            <a:ext cx="27432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526280"/>
            <a:ext cx="246888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E57C23"/>
                </a:solidFill>
                <a:latin typeface="Aptos"/>
              </a:rPr>
              <a:t>MPI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956048"/>
            <a:ext cx="24688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5B6978"/>
                </a:solidFill>
                <a:latin typeface="Aptos"/>
              </a:rPr>
              <a:t>DISTRIBUTED DEAL.II + TRILINOS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" y="6053328"/>
            <a:ext cx="11045952" cy="365760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6144768"/>
            <a:ext cx="1024128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KEY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6117336"/>
            <a:ext cx="9582912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D243D"/>
                </a:solidFill>
                <a:latin typeface="Aptos"/>
              </a:rPr>
              <a:t>Every preconditioner solves the same assembled system with the same initial guess and stopping rule.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47104"/>
            <a:ext cx="411480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NMPDE · Heterogeneous diffusion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43D"/>
          </a:solidFill>
          <a:ln w="10160">
            <a:solidFill>
              <a:srgbClr val="0D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698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D243D"/>
                </a:solidFill>
                <a:latin typeface="Aptos"/>
              </a:rPr>
              <a:t>How the comparison is designed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365760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5B6978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83112" cy="16459"/>
          </a:xfrm>
          <a:prstGeom prst="rect">
            <a:avLst/>
          </a:prstGeom>
          <a:solidFill>
            <a:srgbClr val="D5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248716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157984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CONTRAST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157984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B5D93"/>
                </a:solidFill>
                <a:latin typeface="Aptos"/>
              </a:rPr>
              <a:t>p = 1, 2, 3, 4,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2157984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Aptos"/>
              </a:rPr>
              <a:t>Tests robustness to μmax/μmin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89888"/>
            <a:ext cx="248716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572768"/>
            <a:ext cx="2157984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874519"/>
            <a:ext cx="2157984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BE3E3E"/>
                </a:solidFill>
                <a:latin typeface="Aptos"/>
              </a:rPr>
              <a:t>r = 3, 4,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267712"/>
            <a:ext cx="2157984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Aptos"/>
              </a:rPr>
              <a:t>Tests dependence on h and DoFs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89888"/>
            <a:ext cx="248716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572768"/>
            <a:ext cx="2157984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PARALLELISM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874519"/>
            <a:ext cx="2157984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27855C"/>
                </a:solidFill>
                <a:latin typeface="Aptos"/>
              </a:rPr>
              <a:t>np = 1, 2, 3,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267712"/>
            <a:ext cx="2157984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Aptos"/>
              </a:rPr>
              <a:t>Tests strong scaling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389888"/>
            <a:ext cx="248716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572768"/>
            <a:ext cx="2157984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SOLVER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1874519"/>
            <a:ext cx="2157984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734F96"/>
                </a:solidFill>
                <a:latin typeface="Aptos"/>
              </a:rPr>
              <a:t>5 preconditioners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267712"/>
            <a:ext cx="2157984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Aptos"/>
              </a:rPr>
              <a:t>Tests algebraic strategies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063240"/>
            <a:ext cx="5413248" cy="2331720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10128"/>
            <a:ext cx="4864608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0D243D"/>
                </a:solidFill>
                <a:latin typeface="Aptos"/>
              </a:rPr>
              <a:t>Controlled for fairness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730752"/>
            <a:ext cx="4736592" cy="1325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6"/>
                </a:solidFill>
                <a:latin typeface="Aptos"/>
              </a:defRPr>
            </a:pPr>
            <a:r>
              <a:t>•  Same matrix and right-hand side</a:t>
            </a:r>
          </a:p>
          <a:p>
            <a:pPr>
              <a:spcAft>
                <a:spcPts val="800"/>
              </a:spcAft>
              <a:defRPr sz="1400">
                <a:solidFill>
                  <a:srgbClr val="202A36"/>
                </a:solidFill>
                <a:latin typeface="Aptos"/>
              </a:defRPr>
            </a:pPr>
            <a:r>
              <a:t>•  Zero initial guess for every solve</a:t>
            </a:r>
          </a:p>
          <a:p>
            <a:pPr>
              <a:spcAft>
                <a:spcPts val="800"/>
              </a:spcAft>
              <a:defRPr sz="1400">
                <a:solidFill>
                  <a:srgbClr val="202A36"/>
                </a:solidFill>
                <a:latin typeface="Aptos"/>
              </a:defRPr>
            </a:pPr>
            <a:r>
              <a:t>•  Relative residual tolerance: 10⁻¹⁰</a:t>
            </a:r>
          </a:p>
          <a:p>
            <a:pPr>
              <a:spcAft>
                <a:spcPts val="800"/>
              </a:spcAft>
              <a:defRPr sz="1400">
                <a:solidFill>
                  <a:srgbClr val="202A36"/>
                </a:solidFill>
                <a:latin typeface="Aptos"/>
              </a:defRPr>
            </a:pPr>
            <a:r>
              <a:t>•  Wall time reduced with MPI maximum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063240"/>
            <a:ext cx="5358384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310128"/>
            <a:ext cx="48463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0D243D"/>
                </a:solidFill>
                <a:latin typeface="Aptos"/>
              </a:rPr>
              <a:t>What we 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30752"/>
            <a:ext cx="141732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1B5D93"/>
                </a:solidFill>
                <a:latin typeface="Aptos"/>
              </a:rPr>
              <a:t>Effectiveness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730752"/>
            <a:ext cx="297180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02A36"/>
                </a:solidFill>
                <a:latin typeface="Aptos"/>
              </a:rPr>
              <a:t>iterations + κ̂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96512"/>
            <a:ext cx="141732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BE3E3E"/>
                </a:solidFill>
                <a:latin typeface="Aptos"/>
              </a:rPr>
              <a:t>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096512"/>
            <a:ext cx="297180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02A36"/>
                </a:solidFill>
                <a:latin typeface="Aptos"/>
              </a:rPr>
              <a:t>setup + solve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62272"/>
            <a:ext cx="141732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7855C"/>
                </a:solidFill>
                <a:latin typeface="Aptos"/>
              </a:rPr>
              <a:t>Optimality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462272"/>
            <a:ext cx="297180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02A36"/>
                </a:solidFill>
                <a:latin typeface="Aptos"/>
              </a:rPr>
              <a:t>growth with 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828032"/>
            <a:ext cx="141732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734F96"/>
                </a:solidFill>
                <a:latin typeface="Aptos"/>
              </a:rPr>
              <a:t>Scalability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828032"/>
            <a:ext cx="297180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02A36"/>
                </a:solidFill>
                <a:latin typeface="Aptos"/>
              </a:rPr>
              <a:t>speedup with np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029200"/>
            <a:ext cx="448056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E57C23"/>
                </a:solidFill>
                <a:latin typeface="Aptos"/>
              </a:rPr>
              <a:t>5 × 3 × 4 × 5 = 300 measured solves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358384"/>
            <a:ext cx="4480560" cy="21945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D243D"/>
                </a:solidFill>
                <a:latin typeface="Cambria Math"/>
              </a:rPr>
              <a:t>S(np) = T(1)/T(np),   E(np) = S(np)/np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" y="6053328"/>
            <a:ext cx="11045952" cy="365760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6144768"/>
            <a:ext cx="1024128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KEY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55648" y="6117336"/>
            <a:ext cx="9582912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D243D"/>
                </a:solidFill>
                <a:latin typeface="Aptos"/>
              </a:rPr>
              <a:t>The design separates solver quality, mesh robustness, and parallel behavior instead of relying on one timing.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47104"/>
            <a:ext cx="411480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NMPDE · Heterogeneous diffusion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43D"/>
          </a:solidFill>
          <a:ln w="10160">
            <a:solidFill>
              <a:srgbClr val="0D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SOLVER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698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D243D"/>
                </a:solidFill>
                <a:latin typeface="Aptos"/>
              </a:rPr>
              <a:t>Five levels of algebraic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365760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5B6978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83112" cy="16459"/>
          </a:xfrm>
          <a:prstGeom prst="rect">
            <a:avLst/>
          </a:prstGeom>
          <a:solidFill>
            <a:srgbClr val="D5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481328"/>
            <a:ext cx="1874519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481328"/>
            <a:ext cx="1874519" cy="109728"/>
          </a:xfrm>
          <a:prstGeom prst="rect">
            <a:avLst/>
          </a:prstGeom>
          <a:solidFill>
            <a:srgbClr val="1B5D93"/>
          </a:solidFill>
          <a:ln w="10160">
            <a:solidFill>
              <a:srgbClr val="1B5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74519"/>
            <a:ext cx="160020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2000" b="1">
                <a:solidFill>
                  <a:srgbClr val="1B5D93"/>
                </a:solidFill>
                <a:latin typeface="Aptos"/>
              </a:rPr>
              <a:t>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14600"/>
            <a:ext cx="1691640" cy="5669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0D243D"/>
                </a:solidFill>
                <a:latin typeface="Cambria Math"/>
              </a:rPr>
              <a:t>M =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56432"/>
            <a:ext cx="1600200" cy="10515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5B6978"/>
                </a:solidFill>
                <a:latin typeface="Aptos"/>
              </a:rPr>
              <a:t>Zero overhead
No spectral 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956048"/>
            <a:ext cx="160020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5B6978"/>
                </a:solidFill>
                <a:latin typeface="Aptos"/>
              </a:rPr>
              <a:t>information
complexity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481328"/>
            <a:ext cx="1874519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8064" y="1481328"/>
            <a:ext cx="1874519" cy="109728"/>
          </a:xfrm>
          <a:prstGeom prst="rect">
            <a:avLst/>
          </a:prstGeom>
          <a:solidFill>
            <a:srgbClr val="BE3E3E"/>
          </a:solidFill>
          <a:ln w="10160">
            <a:solidFill>
              <a:srgbClr val="B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5224" y="1874519"/>
            <a:ext cx="160020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2000" b="1">
                <a:solidFill>
                  <a:srgbClr val="BE3E3E"/>
                </a:solidFill>
                <a:latin typeface="Aptos"/>
              </a:rPr>
              <a:t>Jacobi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2514600"/>
            <a:ext cx="1691640" cy="5669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0D243D"/>
                </a:solidFill>
                <a:latin typeface="Cambria Math"/>
              </a:rPr>
              <a:t>M = D = diag(A)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3456432"/>
            <a:ext cx="1600200" cy="10515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5B6978"/>
                </a:solidFill>
                <a:latin typeface="Aptos"/>
              </a:rPr>
              <a:t>Pointwise and parallel
Ignores coupling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4956048"/>
            <a:ext cx="160020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5B6978"/>
                </a:solidFill>
                <a:latin typeface="Aptos"/>
              </a:rPr>
              <a:t>information
complexity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1481328"/>
            <a:ext cx="1874519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1481328"/>
            <a:ext cx="1874519" cy="109728"/>
          </a:xfrm>
          <a:prstGeom prst="rect">
            <a:avLst/>
          </a:prstGeom>
          <a:solidFill>
            <a:srgbClr val="27855C"/>
          </a:solidFill>
          <a:ln w="10160">
            <a:solidFill>
              <a:srgbClr val="27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2936" y="1874519"/>
            <a:ext cx="160020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2000" b="1">
                <a:solidFill>
                  <a:srgbClr val="27855C"/>
                </a:solidFill>
                <a:latin typeface="Aptos"/>
              </a:rPr>
              <a:t>SSOR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514600"/>
            <a:ext cx="1691640" cy="5669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0D243D"/>
                </a:solidFill>
                <a:latin typeface="Cambria Math"/>
              </a:rPr>
              <a:t>M ≈ (D+ωL)D⁻¹(D+ωU)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3456432"/>
            <a:ext cx="1600200" cy="10515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5B6978"/>
                </a:solidFill>
                <a:latin typeface="Aptos"/>
              </a:rPr>
              <a:t>Richer local structure
Ordering dependencies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4956048"/>
            <a:ext cx="160020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5B6978"/>
                </a:solidFill>
                <a:latin typeface="Aptos"/>
              </a:rPr>
              <a:t>information
complexity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1481328"/>
            <a:ext cx="1874519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1481328"/>
            <a:ext cx="1874519" cy="109728"/>
          </a:xfrm>
          <a:prstGeom prst="rect">
            <a:avLst/>
          </a:prstGeom>
          <a:solidFill>
            <a:srgbClr val="734F96"/>
          </a:solidFill>
          <a:ln w="10160">
            <a:solidFill>
              <a:srgbClr val="73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0648" y="1874519"/>
            <a:ext cx="160020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2000" b="1">
                <a:solidFill>
                  <a:srgbClr val="734F96"/>
                </a:solidFill>
                <a:latin typeface="Aptos"/>
              </a:rPr>
              <a:t>ILU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2514600"/>
            <a:ext cx="1691640" cy="5669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0D243D"/>
                </a:solidFill>
                <a:latin typeface="Cambria Math"/>
              </a:rPr>
              <a:t>A ≈ L̃Ũ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3456432"/>
            <a:ext cx="1600200" cy="10515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5B6978"/>
                </a:solidFill>
                <a:latin typeface="Aptos"/>
              </a:rPr>
              <a:t>Local factorization
Triangular solves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4956048"/>
            <a:ext cx="160020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5B6978"/>
                </a:solidFill>
                <a:latin typeface="Aptos"/>
              </a:rPr>
              <a:t>information
complexity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1481328"/>
            <a:ext cx="1874519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1481328"/>
            <a:ext cx="1874519" cy="109728"/>
          </a:xfrm>
          <a:prstGeom prst="rect">
            <a:avLst/>
          </a:prstGeom>
          <a:solidFill>
            <a:srgbClr val="E57C23"/>
          </a:solidFill>
          <a:ln w="10160">
            <a:solidFill>
              <a:srgbClr val="E57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1874519"/>
            <a:ext cx="160020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2000" b="1">
                <a:solidFill>
                  <a:srgbClr val="E57C23"/>
                </a:solidFill>
                <a:latin typeface="Aptos"/>
              </a:rPr>
              <a:t>AMG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514600"/>
            <a:ext cx="1691640" cy="5669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0D243D"/>
                </a:solidFill>
                <a:latin typeface="Cambria Math"/>
              </a:rPr>
              <a:t>M⁻¹ ≈ S + PAₕ⁻¹R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456432"/>
            <a:ext cx="1600200" cy="10515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5B6978"/>
                </a:solidFill>
                <a:latin typeface="Aptos"/>
              </a:rPr>
              <a:t>Smooth + coarse error
Global scale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956048"/>
            <a:ext cx="160020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5B6978"/>
                </a:solidFill>
                <a:latin typeface="Aptos"/>
              </a:rPr>
              <a:t>information
complexity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705856"/>
            <a:ext cx="4983480" cy="21945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5B6978"/>
                </a:solidFill>
                <a:latin typeface="Aptos"/>
              </a:rPr>
              <a:t>Increasing setup and communication complexity  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" y="6053328"/>
            <a:ext cx="11045952" cy="365760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6144768"/>
            <a:ext cx="1024128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KEY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55648" y="6117336"/>
            <a:ext cx="9582912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D243D"/>
                </a:solidFill>
                <a:latin typeface="Aptos"/>
              </a:rPr>
              <a:t>The central tradeoff is richer spectral correction versus setup, memory, and communication cost.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47104"/>
            <a:ext cx="411480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NMPDE · Heterogeneous diffusion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43D"/>
          </a:solidFill>
          <a:ln w="10160">
            <a:solidFill>
              <a:srgbClr val="0D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698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D243D"/>
                </a:solidFill>
                <a:latin typeface="Aptos"/>
              </a:rPr>
              <a:t>Verification before performance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365760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5B6978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83112" cy="16459"/>
          </a:xfrm>
          <a:prstGeom prst="rect">
            <a:avLst/>
          </a:prstGeom>
          <a:solidFill>
            <a:srgbClr val="D5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25880"/>
          <a:ext cx="658368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70648" y="1389888"/>
            <a:ext cx="4041648" cy="1207008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636776"/>
            <a:ext cx="3584448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D243D"/>
                </a:solidFill>
                <a:latin typeface="Aptos"/>
              </a:rPr>
              <a:t>uₑₓ = sin(πx) sin(πy) sin(πz)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2048256"/>
            <a:ext cx="3584448" cy="23774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02A36"/>
                </a:solidFill>
                <a:latin typeface="Aptos"/>
              </a:rPr>
              <a:t>μ = 1,   f = 3π²uₑₓ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2916936"/>
            <a:ext cx="187451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3035808"/>
            <a:ext cx="1600199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B5D93"/>
                </a:solidFill>
                <a:latin typeface="Aptos"/>
              </a:rPr>
              <a:t>2.00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3465576"/>
            <a:ext cx="1600199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5B6978"/>
                </a:solidFill>
                <a:latin typeface="Aptos"/>
              </a:rPr>
              <a:t>OBSERVED L²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37776" y="2916936"/>
            <a:ext cx="187451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4936" y="3035808"/>
            <a:ext cx="1600199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E57C23"/>
                </a:solidFill>
                <a:latin typeface="Aptos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4936" y="3465576"/>
            <a:ext cx="1600199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5B6978"/>
                </a:solidFill>
                <a:latin typeface="Aptos"/>
              </a:rPr>
              <a:t>OBSERVED H¹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251960"/>
            <a:ext cx="3730752" cy="12344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A36"/>
                </a:solidFill>
                <a:latin typeface="Aptos"/>
              </a:defRPr>
            </a:pPr>
            <a:r>
              <a:t>•  Matches Q₁ finite-element theory</a:t>
            </a:r>
          </a:p>
          <a:p>
            <a:pPr>
              <a:spcAft>
                <a:spcPts val="800"/>
              </a:spcAft>
              <a:defRPr sz="1300">
                <a:solidFill>
                  <a:srgbClr val="202A36"/>
                </a:solidFill>
                <a:latin typeface="Aptos"/>
              </a:defRPr>
            </a:pPr>
            <a:r>
              <a:t>•  Checks assembly and constraints</a:t>
            </a:r>
          </a:p>
          <a:p>
            <a:pPr>
              <a:spcAft>
                <a:spcPts val="800"/>
              </a:spcAft>
              <a:defRPr sz="1300">
                <a:solidFill>
                  <a:srgbClr val="202A36"/>
                </a:solidFill>
                <a:latin typeface="Aptos"/>
              </a:defRPr>
            </a:pPr>
            <a:r>
              <a:t>•  Checks distributed solve and norms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6053328"/>
            <a:ext cx="11045952" cy="365760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144768"/>
            <a:ext cx="1024128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KEY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6117336"/>
            <a:ext cx="9582912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D243D"/>
                </a:solidFill>
                <a:latin typeface="Aptos"/>
              </a:rPr>
              <a:t>The expected L² and H¹ rates confirm the discretization before solver timings are interpreted.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411480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NMPDE · Heterogeneous diffusion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43D"/>
          </a:solidFill>
          <a:ln w="10160">
            <a:solidFill>
              <a:srgbClr val="0D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MAIN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698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D243D"/>
                </a:solidFill>
                <a:latin typeface="Aptos"/>
              </a:rPr>
              <a:t>Contrast robustness and its spectral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365760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5B6978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83112" cy="16459"/>
          </a:xfrm>
          <a:prstGeom prst="rect">
            <a:avLst/>
          </a:prstGeom>
          <a:solidFill>
            <a:srgbClr val="D5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76272" y="1188720"/>
            <a:ext cx="1920240" cy="21945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0D243D"/>
                </a:solidFill>
                <a:latin typeface="Aptos"/>
              </a:rPr>
              <a:t>Iteration count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8392" y="1188720"/>
            <a:ext cx="2331720" cy="21945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0D243D"/>
                </a:solidFill>
                <a:latin typeface="Aptos"/>
              </a:rPr>
              <a:t>κ̂(M⁻¹A)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38912" y="1408176"/>
          <a:ext cx="5532120" cy="43708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408176"/>
          <a:ext cx="5532120" cy="43708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0352" y="6053328"/>
            <a:ext cx="11045952" cy="365760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6144768"/>
            <a:ext cx="1024128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E57C23"/>
                </a:solidFill>
                <a:latin typeface="Aptos"/>
              </a:rPr>
              <a:t>KEY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6117336"/>
            <a:ext cx="9582912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D243D"/>
                </a:solidFill>
                <a:latin typeface="Aptos"/>
              </a:rPr>
              <a:t>At p = 5, AMG needs 31 iterations and reduces the condition estimate from 1.05 × 10⁷ to 18.5.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411480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NMPDE · Heterogeneous diffusion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43D"/>
          </a:solidFill>
          <a:ln w="10160">
            <a:solidFill>
              <a:srgbClr val="0D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HARDEST SERIAL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698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D243D"/>
                </a:solidFill>
                <a:latin typeface="Aptos"/>
              </a:rPr>
              <a:t>AMG repays its setup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365760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5B6978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83112" cy="16459"/>
          </a:xfrm>
          <a:prstGeom prst="rect">
            <a:avLst/>
          </a:prstGeom>
          <a:solidFill>
            <a:srgbClr val="D5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42816" y="1170432"/>
            <a:ext cx="3703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400" b="0">
                <a:solidFill>
                  <a:srgbClr val="0D243D"/>
                </a:solidFill>
                <a:latin typeface="Cambria Math"/>
              </a:rPr>
              <a:t>tₜₒₜₐₗ = tₛₑₜᵤₚ + tₛₒₗᵥₑ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30352" y="1481328"/>
          <a:ext cx="5440680" cy="38679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99632" y="1481328"/>
          <a:ext cx="5440680" cy="3867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627632" y="5376672"/>
            <a:ext cx="3108960" cy="246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5B6978"/>
                </a:solidFill>
                <a:latin typeface="Aptos"/>
              </a:rPr>
              <a:t>Total time · logarithmic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5376672"/>
            <a:ext cx="3108960" cy="246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E57C23"/>
                </a:solidFill>
                <a:latin typeface="Aptos"/>
              </a:rPr>
              <a:t>AMG: 0.262 s total · 33% setup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6053328"/>
            <a:ext cx="11045952" cy="365760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6144768"/>
            <a:ext cx="1024128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E57C23"/>
                </a:solidFill>
                <a:latin typeface="Aptos"/>
              </a:rP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6117336"/>
            <a:ext cx="9582912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D243D"/>
                </a:solidFill>
                <a:latin typeface="Aptos"/>
              </a:rPr>
              <a:t>AMG has the largest setup cost, but its shorter solve phase makes it the fastest method overall.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411480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NMPDE · Heterogeneous diffusion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43D"/>
          </a:solidFill>
          <a:ln w="10160">
            <a:solidFill>
              <a:srgbClr val="0D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TWO DIFFERENT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698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D243D"/>
                </a:solidFill>
                <a:latin typeface="Aptos"/>
              </a:rPr>
              <a:t>Mesh robustness and parallel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365760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5B6978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83112" cy="16459"/>
          </a:xfrm>
          <a:prstGeom prst="rect">
            <a:avLst/>
          </a:prstGeom>
          <a:solidFill>
            <a:srgbClr val="D5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84831" y="1188720"/>
            <a:ext cx="2148840" cy="21945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0D243D"/>
                </a:solidFill>
                <a:latin typeface="Cambria Math"/>
              </a:rPr>
              <a:t>k(r) at p =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188720"/>
            <a:ext cx="2331720" cy="21945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0D243D"/>
                </a:solidFill>
                <a:latin typeface="Cambria Math"/>
              </a:rPr>
              <a:t>S(np) = T(1)/T(np)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38912" y="1408176"/>
          <a:ext cx="5532120" cy="43708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408176"/>
          <a:ext cx="5532120" cy="43708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0352" y="6053328"/>
            <a:ext cx="11045952" cy="365760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6144768"/>
            <a:ext cx="1024128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E57C23"/>
                </a:solidFill>
                <a:latin typeface="Aptos"/>
              </a:rPr>
              <a:t>KEY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6117336"/>
            <a:ext cx="9582912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D243D"/>
                </a:solidFill>
                <a:latin typeface="Aptos"/>
              </a:rPr>
              <a:t>AMG is the fastest four-rank method even though simpler methods show better speedup ratios.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411480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NMPDE · Heterogeneous diffusion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43D"/>
          </a:solidFill>
          <a:ln w="10160">
            <a:solidFill>
              <a:srgbClr val="0D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B5D93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698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D243D"/>
                </a:solidFill>
                <a:latin typeface="Aptos"/>
              </a:rPr>
              <a:t>Hardest-case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365760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5B6978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83112" cy="16459"/>
          </a:xfrm>
          <a:prstGeom prst="rect">
            <a:avLst/>
          </a:prstGeom>
          <a:solidFill>
            <a:srgbClr val="D5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353312"/>
          <a:ext cx="982980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45920"/>
                <a:gridCol w="1965960"/>
                <a:gridCol w="1417320"/>
                <a:gridCol w="1417320"/>
                <a:gridCol w="1417320"/>
              </a:tblGrid>
              <a:tr h="52730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73152" marT="36576" marB="36576">
                    <a:solidFill>
                      <a:srgbClr val="0D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Iterations</a:t>
                      </a:r>
                    </a:p>
                  </a:txBody>
                  <a:tcPr marL="73152" marR="73152" marT="36576" marB="36576">
                    <a:solidFill>
                      <a:srgbClr val="0D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κ̂</a:t>
                      </a:r>
                    </a:p>
                  </a:txBody>
                  <a:tcPr marL="73152" marR="73152" marT="36576" marB="36576">
                    <a:solidFill>
                      <a:srgbClr val="0D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T₁ [s]</a:t>
                      </a:r>
                    </a:p>
                  </a:txBody>
                  <a:tcPr marL="73152" marR="73152" marT="36576" marB="36576">
                    <a:solidFill>
                      <a:srgbClr val="0D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T₄ [s]</a:t>
                      </a:r>
                    </a:p>
                  </a:txBody>
                  <a:tcPr marL="73152" marR="73152" marT="36576" marB="36576">
                    <a:solidFill>
                      <a:srgbClr val="0D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S₄</a:t>
                      </a:r>
                    </a:p>
                  </a:txBody>
                  <a:tcPr marL="73152" marR="73152" marT="36576" marB="36576">
                    <a:solidFill>
                      <a:srgbClr val="0D243D"/>
                    </a:solidFill>
                  </a:tcPr>
                </a:tc>
              </a:tr>
              <a:tr h="52730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16,067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1.05e+07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16.941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6.922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2.45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730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Jacobi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611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1.5e+06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0.362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0.175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2.06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</a:tr>
              <a:tr h="52730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SSOR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211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1.7e+05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0.494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0.683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0.72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730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ILU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172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1.13e+05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0.399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0.175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2.28</a:t>
                      </a:r>
                    </a:p>
                  </a:txBody>
                  <a:tcPr marL="73152" marR="73152" marT="36576" marB="36576">
                    <a:solidFill>
                      <a:srgbClr val="F1F5F8"/>
                    </a:solidFill>
                  </a:tcPr>
                </a:tc>
              </a:tr>
              <a:tr h="52730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AMG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31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18.5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0.262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0.168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02A36"/>
                          </a:solidFill>
                          <a:latin typeface="Aptos"/>
                        </a:defRPr>
                      </a:pPr>
                      <a:r>
                        <a:t>1.57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" y="4901184"/>
            <a:ext cx="2487168" cy="941832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074920"/>
            <a:ext cx="2231136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900" b="1">
                <a:solidFill>
                  <a:srgbClr val="5B6978"/>
                </a:solidFill>
                <a:latin typeface="Aptos"/>
              </a:rPr>
              <a:t>BEST ROBUSTNESS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349240"/>
            <a:ext cx="2231136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E57C23"/>
                </a:solidFill>
                <a:latin typeface="Aptos"/>
              </a:rPr>
              <a:t>AMG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4901184"/>
            <a:ext cx="2487168" cy="941832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5074920"/>
            <a:ext cx="2231136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900" b="1">
                <a:solidFill>
                  <a:srgbClr val="5B6978"/>
                </a:solidFill>
                <a:latin typeface="Aptos"/>
              </a:rPr>
              <a:t>BEST TOTAL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5349240"/>
            <a:ext cx="2231136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E57C23"/>
                </a:solidFill>
                <a:latin typeface="Aptos"/>
              </a:rPr>
              <a:t>AMG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4901184"/>
            <a:ext cx="2487168" cy="941832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5074920"/>
            <a:ext cx="2231136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900" b="1">
                <a:solidFill>
                  <a:srgbClr val="5B6978"/>
                </a:solidFill>
                <a:latin typeface="Aptos"/>
              </a:rPr>
              <a:t>BEST S₄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5349240"/>
            <a:ext cx="2231136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1B5D93"/>
                </a:solidFill>
                <a:latin typeface="Aptos"/>
              </a:rPr>
              <a:t>None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4901184"/>
            <a:ext cx="2487168" cy="941832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5074920"/>
            <a:ext cx="2231136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900" b="1">
                <a:solidFill>
                  <a:srgbClr val="5B6978"/>
                </a:solidFill>
                <a:latin typeface="Aptos"/>
              </a:rPr>
              <a:t>BEST COMPROMISE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5349240"/>
            <a:ext cx="2231136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E57C23"/>
                </a:solidFill>
                <a:latin typeface="Aptos"/>
              </a:rPr>
              <a:t>AMG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6053328"/>
            <a:ext cx="11045952" cy="365760"/>
          </a:xfrm>
          <a:prstGeom prst="roundRect">
            <a:avLst/>
          </a:prstGeom>
          <a:solidFill>
            <a:srgbClr val="F1F5F8"/>
          </a:solidFill>
          <a:ln w="10160">
            <a:solidFill>
              <a:srgbClr val="D5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6144768"/>
            <a:ext cx="1024128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E57C23"/>
                </a:solidFill>
                <a:latin typeface="Aptos"/>
              </a:rPr>
              <a:t>KEY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6117336"/>
            <a:ext cx="9582912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D243D"/>
                </a:solidFill>
                <a:latin typeface="Aptos"/>
              </a:rPr>
              <a:t>AMG is the only tested method that wins both the robustness and absolute-time comparisons.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411480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NMPDE · Heterogeneous diffusion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274320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2D9CAE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75488"/>
            <a:ext cx="438912" cy="23774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91ABBE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9875520" cy="6217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AMG is the recommended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9875520" cy="4754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300" b="0">
                <a:solidFill>
                  <a:srgbClr val="C5D8E5"/>
                </a:solidFill>
                <a:latin typeface="Aptos"/>
              </a:rPr>
              <a:t>for this heterogeneous elliptic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3255264" cy="2057400"/>
          </a:xfrm>
          <a:prstGeom prst="roundRect">
            <a:avLst/>
          </a:prstGeom>
          <a:solidFill>
            <a:srgbClr val="143552"/>
          </a:solidFill>
          <a:ln w="10160">
            <a:solidFill>
              <a:srgbClr val="41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834640"/>
            <a:ext cx="2889504" cy="4754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2800" b="1">
                <a:solidFill>
                  <a:srgbClr val="E57C23"/>
                </a:solidFill>
                <a:latin typeface="Aptos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438144"/>
            <a:ext cx="2889504" cy="21945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ITERATIONS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895344"/>
            <a:ext cx="2889504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200" b="0">
                <a:solidFill>
                  <a:srgbClr val="BED0DC"/>
                </a:solidFill>
                <a:latin typeface="Aptos"/>
              </a:rPr>
              <a:t>vs. 16,067 without 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514600"/>
            <a:ext cx="3255264" cy="2057400"/>
          </a:xfrm>
          <a:prstGeom prst="roundRect">
            <a:avLst/>
          </a:prstGeom>
          <a:solidFill>
            <a:srgbClr val="143552"/>
          </a:solidFill>
          <a:ln w="10160">
            <a:solidFill>
              <a:srgbClr val="41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834640"/>
            <a:ext cx="2889504" cy="4754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2800" b="1">
                <a:solidFill>
                  <a:srgbClr val="2D9CAE"/>
                </a:solidFill>
                <a:latin typeface="Aptos"/>
              </a:rPr>
              <a:t>18.5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438144"/>
            <a:ext cx="2889504" cy="21945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ESTIMATED 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895344"/>
            <a:ext cx="2889504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200" b="0">
                <a:solidFill>
                  <a:srgbClr val="BED0DC"/>
                </a:solidFill>
                <a:latin typeface="Aptos"/>
              </a:rPr>
              <a:t>vs. 1.05 × 10⁷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514600"/>
            <a:ext cx="3255264" cy="2057400"/>
          </a:xfrm>
          <a:prstGeom prst="roundRect">
            <a:avLst/>
          </a:prstGeom>
          <a:solidFill>
            <a:srgbClr val="143552"/>
          </a:solidFill>
          <a:ln w="10160">
            <a:solidFill>
              <a:srgbClr val="41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834640"/>
            <a:ext cx="2889504" cy="4754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2800" b="1">
                <a:solidFill>
                  <a:srgbClr val="2D9CAE"/>
                </a:solidFill>
                <a:latin typeface="Aptos"/>
              </a:rPr>
              <a:t>0.262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438144"/>
            <a:ext cx="2889504" cy="21945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SERIAL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895344"/>
            <a:ext cx="2889504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200" b="0">
                <a:solidFill>
                  <a:srgbClr val="BED0DC"/>
                </a:solidFill>
                <a:latin typeface="Aptos"/>
              </a:rPr>
              <a:t>fastest tested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02352"/>
            <a:ext cx="1078992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Verified discretization · 300 measured solves · editable data-driven charts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400" b="0">
                <a:solidFill>
                  <a:srgbClr val="BFD2DE"/>
                </a:solidFill>
                <a:latin typeface="Aptos"/>
              </a:rPr>
              <a:t>Next: repeat timing trials on larger meshes and tune the AMG hierarchy.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55080"/>
            <a:ext cx="512064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91ABBE"/>
                </a:solidFill>
                <a:latin typeface="Aptos"/>
              </a:rPr>
              <a:t>Source data: result/benchmark_results.csv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Preconditioning Heterogeneous Diffusion Problems</dc:title>
  <dc:subject>NMPDE project presentation</dc:subject>
  <dc:creator>Nada Elsayed, Wu Cao, Fude Zhou, Elena Nuttini</dc:creator>
  <cp:keywords>finite elements, preconditioning, CG, AMG, MPI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